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Merriweather"/>
      <p:regular r:id="rId20"/>
      <p:bold r:id="rId21"/>
      <p:italic r:id="rId22"/>
      <p:boldItalic r:id="rId23"/>
    </p:embeddedFont>
    <p:embeddedFont>
      <p:font typeface="DM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449D65-1CC7-49DF-8244-201EF34AE5F4}">
  <a:tblStyle styleId="{31449D65-1CC7-49DF-8244-201EF34AE5F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regular.fntdata"/><Relationship Id="rId22" Type="http://schemas.openxmlformats.org/officeDocument/2006/relationships/font" Target="fonts/Merriweather-italic.fntdata"/><Relationship Id="rId21" Type="http://schemas.openxmlformats.org/officeDocument/2006/relationships/font" Target="fonts/Merriweather-bold.fntdata"/><Relationship Id="rId24" Type="http://schemas.openxmlformats.org/officeDocument/2006/relationships/font" Target="fonts/DMSans-regular.fntdata"/><Relationship Id="rId23" Type="http://schemas.openxmlformats.org/officeDocument/2006/relationships/font" Target="fonts/Merriweath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italic.fntdata"/><Relationship Id="rId25" Type="http://schemas.openxmlformats.org/officeDocument/2006/relationships/font" Target="fonts/DMSans-bold.fntdata"/><Relationship Id="rId27" Type="http://schemas.openxmlformats.org/officeDocument/2006/relationships/font" Target="fonts/DM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1.png"/><Relationship Id="rId9"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0.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095875" y="2251769"/>
            <a:ext cx="2000250" cy="323850"/>
          </a:xfrm>
          <a:prstGeom prst="rect">
            <a:avLst/>
          </a:prstGeom>
          <a:noFill/>
          <a:ln>
            <a:noFill/>
          </a:ln>
        </p:spPr>
      </p:pic>
      <p:sp>
        <p:nvSpPr>
          <p:cNvPr id="86" name="Google Shape;86;p13"/>
          <p:cNvSpPr txBox="1"/>
          <p:nvPr/>
        </p:nvSpPr>
        <p:spPr>
          <a:xfrm>
            <a:off x="1605438" y="2670869"/>
            <a:ext cx="8981122"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Merriweather"/>
                <a:ea typeface="Merriweather"/>
                <a:cs typeface="Merriweather"/>
                <a:sym typeface="Merriweather"/>
              </a:rPr>
              <a:t>E-Mail-Server-Infrastruktur</a:t>
            </a:r>
            <a:endParaRPr/>
          </a:p>
        </p:txBody>
      </p:sp>
      <p:sp>
        <p:nvSpPr>
          <p:cNvPr id="87" name="Google Shape;87;p13"/>
          <p:cNvSpPr txBox="1"/>
          <p:nvPr/>
        </p:nvSpPr>
        <p:spPr>
          <a:xfrm>
            <a:off x="1766887" y="3592859"/>
            <a:ext cx="8658225"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DM Sans"/>
                <a:ea typeface="DM Sans"/>
                <a:cs typeface="DM Sans"/>
                <a:sym typeface="DM Sans"/>
              </a:rPr>
              <a:t>Von der manuellen Postfix-Konfiguration zur schlüsselfertigen Docker-Sovereignty</a:t>
            </a:r>
            <a:endParaRPr/>
          </a:p>
        </p:txBody>
      </p:sp>
      <p:sp>
        <p:nvSpPr>
          <p:cNvPr id="88" name="Google Shape;88;p13"/>
          <p:cNvSpPr/>
          <p:nvPr/>
        </p:nvSpPr>
        <p:spPr>
          <a:xfrm>
            <a:off x="5619750" y="4568130"/>
            <a:ext cx="952500" cy="381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6286500" y="2405360"/>
            <a:ext cx="5334000" cy="2939057"/>
          </a:xfrm>
          <a:prstGeom prst="rect">
            <a:avLst/>
          </a:prstGeom>
          <a:noFill/>
          <a:ln>
            <a:noFill/>
          </a:ln>
        </p:spPr>
      </p:pic>
      <p:sp>
        <p:nvSpPr>
          <p:cNvPr id="95" name="Google Shape;95;p14"/>
          <p:cNvSpPr txBox="1"/>
          <p:nvPr/>
        </p:nvSpPr>
        <p:spPr>
          <a:xfrm>
            <a:off x="571500" y="2405360"/>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Die drei Kernkomponenten</a:t>
            </a:r>
            <a:endParaRPr/>
          </a:p>
        </p:txBody>
      </p:sp>
      <p:sp>
        <p:nvSpPr>
          <p:cNvPr id="96" name="Google Shape;96;p14"/>
          <p:cNvSpPr txBox="1"/>
          <p:nvPr/>
        </p:nvSpPr>
        <p:spPr>
          <a:xfrm>
            <a:off x="571500" y="2929235"/>
            <a:ext cx="53340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Ein funktionierender Mailserver besteht aus spezialisierten Diensten, die wie Zahnräder ineinandergreifen müssen:</a:t>
            </a:r>
            <a:endParaRPr/>
          </a:p>
        </p:txBody>
      </p:sp>
      <p:sp>
        <p:nvSpPr>
          <p:cNvPr id="97" name="Google Shape;97;p14"/>
          <p:cNvSpPr txBox="1"/>
          <p:nvPr/>
        </p:nvSpPr>
        <p:spPr>
          <a:xfrm>
            <a:off x="6534150" y="3234035"/>
            <a:ext cx="508063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Der Mail-Fluss (SMTP vs. IMAP)</a:t>
            </a:r>
            <a:endParaRPr/>
          </a:p>
        </p:txBody>
      </p:sp>
      <p:sp>
        <p:nvSpPr>
          <p:cNvPr id="98" name="Google Shape;98;p14"/>
          <p:cNvSpPr txBox="1"/>
          <p:nvPr/>
        </p:nvSpPr>
        <p:spPr>
          <a:xfrm>
            <a:off x="6534150" y="3757910"/>
            <a:ext cx="4838700"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Mails werden standardmäßig über **Port 25 (SMTP)** zwischen Servern transportiert. Der Abruf durch den Client erfolgt über **Port 143 (IMAP)** oder **993 (IMAPS)**.</a:t>
            </a:r>
            <a:endParaRPr/>
          </a:p>
        </p:txBody>
      </p:sp>
      <p:sp>
        <p:nvSpPr>
          <p:cNvPr id="99" name="Google Shape;99;p14"/>
          <p:cNvSpPr txBox="1"/>
          <p:nvPr/>
        </p:nvSpPr>
        <p:spPr>
          <a:xfrm>
            <a:off x="885825" y="3691056"/>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00" name="Google Shape;100;p14"/>
          <p:cNvSpPr txBox="1"/>
          <p:nvPr/>
        </p:nvSpPr>
        <p:spPr>
          <a:xfrm>
            <a:off x="952500" y="3689151"/>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DM Sans"/>
                <a:ea typeface="DM Sans"/>
                <a:cs typeface="DM Sans"/>
                <a:sym typeface="DM Sans"/>
              </a:rPr>
              <a:t>MUA (Mail User Agent):</a:t>
            </a:r>
            <a:r>
              <a:rPr b="0" i="0" lang="en-US" sz="1425" u="none" cap="none" strike="noStrike">
                <a:solidFill>
                  <a:srgbClr val="334155"/>
                </a:solidFill>
                <a:latin typeface="DM Sans"/>
                <a:ea typeface="DM Sans"/>
                <a:cs typeface="DM Sans"/>
                <a:sym typeface="DM Sans"/>
              </a:rPr>
              <a:t> Der Client des Nutzers (z. B. Thunderbird, Outlook).</a:t>
            </a:r>
            <a:endParaRPr/>
          </a:p>
        </p:txBody>
      </p:sp>
      <p:sp>
        <p:nvSpPr>
          <p:cNvPr id="101" name="Google Shape;101;p14"/>
          <p:cNvSpPr txBox="1"/>
          <p:nvPr/>
        </p:nvSpPr>
        <p:spPr>
          <a:xfrm>
            <a:off x="885825" y="4269997"/>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02" name="Google Shape;102;p14"/>
          <p:cNvSpPr txBox="1"/>
          <p:nvPr/>
        </p:nvSpPr>
        <p:spPr>
          <a:xfrm>
            <a:off x="952500" y="4268092"/>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DM Sans"/>
                <a:ea typeface="DM Sans"/>
                <a:cs typeface="DM Sans"/>
                <a:sym typeface="DM Sans"/>
              </a:rPr>
              <a:t>MTA (Mail Transfer Agent):</a:t>
            </a:r>
            <a:r>
              <a:rPr b="0" i="0" lang="en-US" sz="1425" u="none" cap="none" strike="noStrike">
                <a:solidFill>
                  <a:srgbClr val="334155"/>
                </a:solidFill>
                <a:latin typeface="DM Sans"/>
                <a:ea typeface="DM Sans"/>
                <a:cs typeface="DM Sans"/>
                <a:sym typeface="DM Sans"/>
              </a:rPr>
              <a:t> Der Postbote. Nimmt Mails per SMTP an und leitet sie weiter. </a:t>
            </a:r>
            <a:r>
              <a:rPr b="1" i="0" lang="en-US" sz="1425" u="none" cap="none" strike="noStrike">
                <a:solidFill>
                  <a:srgbClr val="3B82F6"/>
                </a:solidFill>
                <a:latin typeface="DM Sans"/>
                <a:ea typeface="DM Sans"/>
                <a:cs typeface="DM Sans"/>
                <a:sym typeface="DM Sans"/>
              </a:rPr>
              <a:t>→ Unser Postfix</a:t>
            </a:r>
            <a:endParaRPr/>
          </a:p>
        </p:txBody>
      </p:sp>
      <p:sp>
        <p:nvSpPr>
          <p:cNvPr id="103" name="Google Shape;103;p14"/>
          <p:cNvSpPr txBox="1"/>
          <p:nvPr/>
        </p:nvSpPr>
        <p:spPr>
          <a:xfrm>
            <a:off x="885825" y="4848939"/>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04" name="Google Shape;104;p14"/>
          <p:cNvSpPr txBox="1"/>
          <p:nvPr/>
        </p:nvSpPr>
        <p:spPr>
          <a:xfrm>
            <a:off x="952500" y="4847034"/>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59929"/>
              </a:lnSpc>
              <a:spcBef>
                <a:spcPts val="0"/>
              </a:spcBef>
              <a:spcAft>
                <a:spcPts val="0"/>
              </a:spcAft>
              <a:buNone/>
            </a:pPr>
            <a:r>
              <a:rPr b="1" i="0" lang="en-US" sz="1425" u="none" cap="none" strike="noStrike">
                <a:solidFill>
                  <a:srgbClr val="334155"/>
                </a:solidFill>
                <a:latin typeface="DM Sans"/>
                <a:ea typeface="DM Sans"/>
                <a:cs typeface="DM Sans"/>
                <a:sym typeface="DM Sans"/>
              </a:rPr>
              <a:t>MDA (Mail Delivery Agent):</a:t>
            </a:r>
            <a:r>
              <a:rPr b="0" i="0" lang="en-US" sz="1425" u="none" cap="none" strike="noStrike">
                <a:solidFill>
                  <a:srgbClr val="334155"/>
                </a:solidFill>
                <a:latin typeface="DM Sans"/>
                <a:ea typeface="DM Sans"/>
                <a:cs typeface="DM Sans"/>
                <a:sym typeface="DM Sans"/>
              </a:rPr>
              <a:t> Der Postkasten. Speichert Mails und stellt sie per IMAP/POP3 bereit. </a:t>
            </a:r>
            <a:r>
              <a:rPr b="1" i="0" lang="en-US" sz="1425" u="none" cap="none" strike="noStrike">
                <a:solidFill>
                  <a:srgbClr val="10B981"/>
                </a:solidFill>
                <a:latin typeface="DM Sans"/>
                <a:ea typeface="DM Sans"/>
                <a:cs typeface="DM Sans"/>
                <a:sym typeface="DM Sans"/>
              </a:rPr>
              <a:t>→ Dovecot</a:t>
            </a:r>
            <a:endParaRPr/>
          </a:p>
        </p:txBody>
      </p:sp>
      <p:pic>
        <p:nvPicPr>
          <p:cNvPr descr="image.png" id="105" name="Google Shape;105;p14"/>
          <p:cNvPicPr preferRelativeResize="0"/>
          <p:nvPr/>
        </p:nvPicPr>
        <p:blipFill rotWithShape="1">
          <a:blip r:embed="rId5">
            <a:alphaModFix/>
          </a:blip>
          <a:srcRect b="0" l="0" r="0" t="0"/>
          <a:stretch/>
        </p:blipFill>
        <p:spPr>
          <a:xfrm>
            <a:off x="6534150" y="2700635"/>
            <a:ext cx="419100" cy="333375"/>
          </a:xfrm>
          <a:prstGeom prst="rect">
            <a:avLst/>
          </a:prstGeom>
          <a:noFill/>
          <a:ln>
            <a:noFill/>
          </a:ln>
        </p:spPr>
      </p:pic>
      <p:sp>
        <p:nvSpPr>
          <p:cNvPr id="106" name="Google Shape;106;p14"/>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Die E-Mail-Architektur (Theorie)</a:t>
            </a:r>
            <a:endParaRPr/>
          </a:p>
        </p:txBody>
      </p:sp>
      <p:sp>
        <p:nvSpPr>
          <p:cNvPr id="107" name="Google Shape;107;p14"/>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pic>
        <p:nvPicPr>
          <p:cNvPr descr="image.png" id="112" name="Google Shape;112;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 name="Google Shape;113;p15"/>
          <p:cNvSpPr txBox="1"/>
          <p:nvPr/>
        </p:nvSpPr>
        <p:spPr>
          <a:xfrm>
            <a:off x="571500" y="2387203"/>
            <a:ext cx="110490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Bevor Postfix installiert wird, </a:t>
            </a:r>
            <a:r>
              <a:rPr b="1" i="0" lang="en-US" sz="1425" u="none" cap="none" strike="noStrike">
                <a:solidFill>
                  <a:srgbClr val="334155"/>
                </a:solidFill>
                <a:latin typeface="DM Sans"/>
                <a:ea typeface="DM Sans"/>
                <a:cs typeface="DM Sans"/>
                <a:sym typeface="DM Sans"/>
              </a:rPr>
              <a:t>muss</a:t>
            </a:r>
            <a:r>
              <a:rPr b="0" i="0" lang="en-US" sz="1425" u="none" cap="none" strike="noStrike">
                <a:solidFill>
                  <a:srgbClr val="334155"/>
                </a:solidFill>
                <a:latin typeface="DM Sans"/>
                <a:ea typeface="DM Sans"/>
                <a:cs typeface="DM Sans"/>
                <a:sym typeface="DM Sans"/>
              </a:rPr>
              <a:t> die Namensauflösung im Labor stehen. Ohne diese Einträge verweigert jeder moderne Mailserver die Annahme.</a:t>
            </a:r>
            <a:endParaRPr/>
          </a:p>
        </p:txBody>
      </p:sp>
      <p:graphicFrame>
        <p:nvGraphicFramePr>
          <p:cNvPr id="114" name="Google Shape;114;p15"/>
          <p:cNvGraphicFramePr/>
          <p:nvPr/>
        </p:nvGraphicFramePr>
        <p:xfrm>
          <a:off x="571500" y="3242369"/>
          <a:ext cx="3000000" cy="3000000"/>
        </p:xfrm>
        <a:graphic>
          <a:graphicData uri="http://schemas.openxmlformats.org/drawingml/2006/table">
            <a:tbl>
              <a:tblPr bandRow="1" firstRow="1">
                <a:noFill/>
                <a:tableStyleId>{31449D65-1CC7-49DF-8244-201EF34AE5F4}</a:tableStyleId>
              </a:tblPr>
              <a:tblGrid>
                <a:gridCol w="1162650"/>
                <a:gridCol w="2185975"/>
                <a:gridCol w="2931625"/>
                <a:gridCol w="4768750"/>
              </a:tblGrid>
              <a:tr h="633775">
                <a:tc>
                  <a:txBody>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Typ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Name / Host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Wert / Ziel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200" u="none" cap="none" strike="noStrike">
                          <a:solidFill>
                            <a:srgbClr val="FFFFFF"/>
                          </a:solidFill>
                          <a:latin typeface="DM Sans"/>
                          <a:ea typeface="DM Sans"/>
                          <a:cs typeface="DM Sans"/>
                          <a:sym typeface="DM Sans"/>
                        </a:rPr>
                        <a:t>Bedeutung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633775">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A-Record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mail.deine-klasse.local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172.16.7.X (Server-IP)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Ordnet dem Mailserver seine IP zu.</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33775">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MX-Record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deine-klasse.local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mail.deine-klasse.local (Prio: 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Sagt der Welt, welcher Server für die Domain zuständig ist.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633775">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PTR-Record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172.16.7.X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mail.deine-klasse.local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334155"/>
                          </a:solidFill>
                          <a:latin typeface="Courier New"/>
                          <a:ea typeface="Courier New"/>
                          <a:cs typeface="Courier New"/>
                          <a:sym typeface="Courier New"/>
                        </a:rPr>
                        <a:t>Reverse-DNS (Überlebenswichtig gegen Spam-Filter!)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15" name="Google Shape;115;p15"/>
          <p:cNvSpPr/>
          <p:nvPr/>
        </p:nvSpPr>
        <p:spPr>
          <a:xfrm>
            <a:off x="571500" y="4388048"/>
            <a:ext cx="11626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5"/>
          <p:cNvSpPr/>
          <p:nvPr/>
        </p:nvSpPr>
        <p:spPr>
          <a:xfrm>
            <a:off x="1734145" y="4388048"/>
            <a:ext cx="2185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3920132" y="4388048"/>
            <a:ext cx="29316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6851749" y="4388048"/>
            <a:ext cx="476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571500" y="5075634"/>
            <a:ext cx="11626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p:nvPr/>
        </p:nvSpPr>
        <p:spPr>
          <a:xfrm>
            <a:off x="1734145" y="5075634"/>
            <a:ext cx="2185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p:nvPr/>
        </p:nvSpPr>
        <p:spPr>
          <a:xfrm>
            <a:off x="3920132" y="5075634"/>
            <a:ext cx="29316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5"/>
          <p:cNvSpPr/>
          <p:nvPr/>
        </p:nvSpPr>
        <p:spPr>
          <a:xfrm>
            <a:off x="6851749" y="5075634"/>
            <a:ext cx="476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p:nvPr/>
        </p:nvSpPr>
        <p:spPr>
          <a:xfrm>
            <a:off x="571500" y="5763220"/>
            <a:ext cx="116264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p:nvPr/>
        </p:nvSpPr>
        <p:spPr>
          <a:xfrm>
            <a:off x="1734145" y="5763220"/>
            <a:ext cx="218598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5"/>
          <p:cNvSpPr/>
          <p:nvPr/>
        </p:nvSpPr>
        <p:spPr>
          <a:xfrm>
            <a:off x="3920132" y="5763220"/>
            <a:ext cx="293161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5"/>
          <p:cNvSpPr/>
          <p:nvPr/>
        </p:nvSpPr>
        <p:spPr>
          <a:xfrm>
            <a:off x="6851749" y="5763220"/>
            <a:ext cx="476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5"/>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1: Das DNS-Fundament</a:t>
            </a:r>
            <a:endParaRPr/>
          </a:p>
        </p:txBody>
      </p:sp>
      <p:sp>
        <p:nvSpPr>
          <p:cNvPr id="128" name="Google Shape;128;p15"/>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pic>
        <p:nvPicPr>
          <p:cNvPr descr="image.png" id="133" name="Google Shape;133;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 name="Google Shape;134;p16"/>
          <p:cNvPicPr preferRelativeResize="0"/>
          <p:nvPr/>
        </p:nvPicPr>
        <p:blipFill rotWithShape="1">
          <a:blip r:embed="rId4">
            <a:alphaModFix/>
          </a:blip>
          <a:srcRect b="0" l="0" r="0" t="0"/>
          <a:stretch/>
        </p:blipFill>
        <p:spPr>
          <a:xfrm>
            <a:off x="571500" y="4083397"/>
            <a:ext cx="5334000" cy="1100732"/>
          </a:xfrm>
          <a:prstGeom prst="rect">
            <a:avLst/>
          </a:prstGeom>
          <a:noFill/>
          <a:ln>
            <a:noFill/>
          </a:ln>
        </p:spPr>
      </p:pic>
      <p:sp>
        <p:nvSpPr>
          <p:cNvPr id="135" name="Google Shape;135;p16"/>
          <p:cNvSpPr txBox="1"/>
          <p:nvPr/>
        </p:nvSpPr>
        <p:spPr>
          <a:xfrm>
            <a:off x="571500" y="2799605"/>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Paket installieren</a:t>
            </a:r>
            <a:endParaRPr/>
          </a:p>
        </p:txBody>
      </p:sp>
      <p:sp>
        <p:nvSpPr>
          <p:cNvPr id="136" name="Google Shape;136;p16"/>
          <p:cNvSpPr txBox="1"/>
          <p:nvPr/>
        </p:nvSpPr>
        <p:spPr>
          <a:xfrm>
            <a:off x="571500" y="3323480"/>
            <a:ext cx="533400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Wir nutzen den Standard-MTA unter Linux. Bei der Installation "Internet Site" wählen.</a:t>
            </a:r>
            <a:endParaRPr/>
          </a:p>
        </p:txBody>
      </p:sp>
      <p:sp>
        <p:nvSpPr>
          <p:cNvPr id="137" name="Google Shape;137;p16"/>
          <p:cNvSpPr txBox="1"/>
          <p:nvPr/>
        </p:nvSpPr>
        <p:spPr>
          <a:xfrm>
            <a:off x="6286500" y="2799605"/>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Wichtige Systempfade</a:t>
            </a:r>
            <a:endParaRPr/>
          </a:p>
        </p:txBody>
      </p:sp>
      <p:sp>
        <p:nvSpPr>
          <p:cNvPr id="138" name="Google Shape;138;p16"/>
          <p:cNvSpPr txBox="1"/>
          <p:nvPr/>
        </p:nvSpPr>
        <p:spPr>
          <a:xfrm>
            <a:off x="6600825" y="3296810"/>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39" name="Google Shape;139;p16"/>
          <p:cNvSpPr txBox="1"/>
          <p:nvPr/>
        </p:nvSpPr>
        <p:spPr>
          <a:xfrm>
            <a:off x="6667500" y="3294905"/>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26611"/>
              </a:lnSpc>
              <a:spcBef>
                <a:spcPts val="0"/>
              </a:spcBef>
              <a:spcAft>
                <a:spcPts val="0"/>
              </a:spcAft>
              <a:buNone/>
            </a:pPr>
            <a:r>
              <a:rPr b="1" i="0" lang="en-US" sz="1425" u="none" cap="none" strike="noStrike">
                <a:solidFill>
                  <a:srgbClr val="334155"/>
                </a:solidFill>
                <a:latin typeface="DM Sans"/>
                <a:ea typeface="DM Sans"/>
                <a:cs typeface="DM Sans"/>
                <a:sym typeface="DM Sans"/>
              </a:rPr>
              <a:t>`/etc/postfix/main.cf`</a:t>
            </a:r>
            <a:r>
              <a:rPr b="0" i="0" lang="en-US" sz="1425" u="none" cap="none" strike="noStrike">
                <a:solidFill>
                  <a:srgbClr val="334155"/>
                </a:solidFill>
                <a:latin typeface="DM Sans"/>
                <a:ea typeface="DM Sans"/>
                <a:cs typeface="DM Sans"/>
                <a:sym typeface="DM Sans"/>
              </a:rPr>
              <a:t>:</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334155"/>
                </a:solidFill>
                <a:latin typeface="DM Sans"/>
                <a:ea typeface="DM Sans"/>
                <a:cs typeface="DM Sans"/>
                <a:sym typeface="DM Sans"/>
              </a:rPr>
              <a:t> Die Hauptkonfigurationsdatei (Globale Parameter).</a:t>
            </a:r>
            <a:endParaRPr/>
          </a:p>
        </p:txBody>
      </p:sp>
      <p:sp>
        <p:nvSpPr>
          <p:cNvPr id="140" name="Google Shape;140;p16"/>
          <p:cNvSpPr txBox="1"/>
          <p:nvPr/>
        </p:nvSpPr>
        <p:spPr>
          <a:xfrm>
            <a:off x="6600825" y="3875752"/>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41" name="Google Shape;141;p16"/>
          <p:cNvSpPr txBox="1"/>
          <p:nvPr/>
        </p:nvSpPr>
        <p:spPr>
          <a:xfrm>
            <a:off x="6667500" y="3873847"/>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26611"/>
              </a:lnSpc>
              <a:spcBef>
                <a:spcPts val="0"/>
              </a:spcBef>
              <a:spcAft>
                <a:spcPts val="0"/>
              </a:spcAft>
              <a:buNone/>
            </a:pPr>
            <a:r>
              <a:rPr b="1" i="0" lang="en-US" sz="1425" u="none" cap="none" strike="noStrike">
                <a:solidFill>
                  <a:srgbClr val="334155"/>
                </a:solidFill>
                <a:latin typeface="DM Sans"/>
                <a:ea typeface="DM Sans"/>
                <a:cs typeface="DM Sans"/>
                <a:sym typeface="DM Sans"/>
              </a:rPr>
              <a:t>`/etc/postfix/master.cf`</a:t>
            </a:r>
            <a:r>
              <a:rPr b="0" i="0" lang="en-US" sz="1425" u="none" cap="none" strike="noStrike">
                <a:solidFill>
                  <a:srgbClr val="334155"/>
                </a:solidFill>
                <a:latin typeface="DM Sans"/>
                <a:ea typeface="DM Sans"/>
                <a:cs typeface="DM Sans"/>
                <a:sym typeface="DM Sans"/>
              </a:rPr>
              <a:t>:</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334155"/>
                </a:solidFill>
                <a:latin typeface="DM Sans"/>
                <a:ea typeface="DM Sans"/>
                <a:cs typeface="DM Sans"/>
                <a:sym typeface="DM Sans"/>
              </a:rPr>
              <a:t> Definiert, welche Prozesse auf welchen Ports lauschen.</a:t>
            </a:r>
            <a:endParaRPr/>
          </a:p>
        </p:txBody>
      </p:sp>
      <p:sp>
        <p:nvSpPr>
          <p:cNvPr id="142" name="Google Shape;142;p16"/>
          <p:cNvSpPr txBox="1"/>
          <p:nvPr/>
        </p:nvSpPr>
        <p:spPr>
          <a:xfrm>
            <a:off x="6600825" y="4454693"/>
            <a:ext cx="666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a:t>
            </a:r>
            <a:endParaRPr/>
          </a:p>
        </p:txBody>
      </p:sp>
      <p:sp>
        <p:nvSpPr>
          <p:cNvPr id="143" name="Google Shape;143;p16"/>
          <p:cNvSpPr txBox="1"/>
          <p:nvPr/>
        </p:nvSpPr>
        <p:spPr>
          <a:xfrm>
            <a:off x="6667500" y="4452788"/>
            <a:ext cx="4953000" cy="578941"/>
          </a:xfrm>
          <a:prstGeom prst="rect">
            <a:avLst/>
          </a:prstGeom>
          <a:noFill/>
          <a:ln>
            <a:noFill/>
          </a:ln>
        </p:spPr>
        <p:txBody>
          <a:bodyPr anchorCtr="0" anchor="t" bIns="0" lIns="66675" spcFirstLastPara="1" rIns="0" wrap="square" tIns="0">
            <a:spAutoFit/>
          </a:bodyPr>
          <a:lstStyle/>
          <a:p>
            <a:pPr indent="0" lvl="0" marL="0" marR="0" rtl="0" algn="l">
              <a:lnSpc>
                <a:spcPct val="126611"/>
              </a:lnSpc>
              <a:spcBef>
                <a:spcPts val="0"/>
              </a:spcBef>
              <a:spcAft>
                <a:spcPts val="0"/>
              </a:spcAft>
              <a:buNone/>
            </a:pPr>
            <a:r>
              <a:rPr b="1" i="0" lang="en-US" sz="1425" u="none" cap="none" strike="noStrike">
                <a:solidFill>
                  <a:srgbClr val="334155"/>
                </a:solidFill>
                <a:latin typeface="DM Sans"/>
                <a:ea typeface="DM Sans"/>
                <a:cs typeface="DM Sans"/>
                <a:sym typeface="DM Sans"/>
              </a:rPr>
              <a:t>`/var/log/maillog` (oder mail.log)</a:t>
            </a:r>
            <a:r>
              <a:rPr b="0" i="0" lang="en-US" sz="1425" u="none" cap="none" strike="noStrike">
                <a:solidFill>
                  <a:srgbClr val="334155"/>
                </a:solidFill>
                <a:latin typeface="DM Sans"/>
                <a:ea typeface="DM Sans"/>
                <a:cs typeface="DM Sans"/>
                <a:sym typeface="DM Sans"/>
              </a:rPr>
              <a:t>:</a:t>
            </a:r>
            <a:br>
              <a:rPr b="0" i="0" lang="en-US" sz="1800" u="none" cap="none" strike="noStrike">
                <a:solidFill>
                  <a:schemeClr val="dk1"/>
                </a:solidFill>
                <a:latin typeface="Calibri"/>
                <a:ea typeface="Calibri"/>
                <a:cs typeface="Calibri"/>
                <a:sym typeface="Calibri"/>
              </a:rPr>
            </a:br>
            <a:r>
              <a:rPr b="0" i="0" lang="en-US" sz="1425" u="none" cap="none" strike="noStrike">
                <a:solidFill>
                  <a:srgbClr val="334155"/>
                </a:solidFill>
                <a:latin typeface="DM Sans"/>
                <a:ea typeface="DM Sans"/>
                <a:cs typeface="DM Sans"/>
                <a:sym typeface="DM Sans"/>
              </a:rPr>
              <a:t> Euer bester Freund bei der Fehlersuche!</a:t>
            </a:r>
            <a:endParaRPr/>
          </a:p>
        </p:txBody>
      </p:sp>
      <p:sp>
        <p:nvSpPr>
          <p:cNvPr id="144" name="Google Shape;144;p16"/>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2: Installation &amp; Basis-Konfiguration</a:t>
            </a:r>
            <a:endParaRPr/>
          </a:p>
        </p:txBody>
      </p:sp>
      <p:sp>
        <p:nvSpPr>
          <p:cNvPr id="145" name="Google Shape;145;p16"/>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571500" y="3209180"/>
            <a:ext cx="11049000" cy="1820465"/>
          </a:xfrm>
          <a:prstGeom prst="rect">
            <a:avLst/>
          </a:prstGeom>
          <a:noFill/>
          <a:ln>
            <a:noFill/>
          </a:ln>
        </p:spPr>
      </p:pic>
      <p:sp>
        <p:nvSpPr>
          <p:cNvPr id="152" name="Google Shape;152;p17"/>
          <p:cNvSpPr txBox="1"/>
          <p:nvPr/>
        </p:nvSpPr>
        <p:spPr>
          <a:xfrm>
            <a:off x="571500" y="2595860"/>
            <a:ext cx="110490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Öffnet `/etc/postfix/main.cf` und passt die Kernparameter an eure Labor-Umgebung an:</a:t>
            </a:r>
            <a:endParaRPr/>
          </a:p>
        </p:txBody>
      </p:sp>
      <p:sp>
        <p:nvSpPr>
          <p:cNvPr id="153" name="Google Shape;153;p17"/>
          <p:cNvSpPr txBox="1"/>
          <p:nvPr/>
        </p:nvSpPr>
        <p:spPr>
          <a:xfrm>
            <a:off x="571500" y="5172521"/>
            <a:ext cx="11049000"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200" u="none" cap="none" strike="noStrike">
                <a:solidFill>
                  <a:srgbClr val="64748B"/>
                </a:solidFill>
                <a:latin typeface="DM Sans"/>
                <a:ea typeface="DM Sans"/>
                <a:cs typeface="DM Sans"/>
                <a:sym typeface="DM Sans"/>
              </a:rPr>
              <a:t>Hinweis: `$myhostname` referenziert automatisch die obere Zeile. Das spart Schreibarbeit und verhindert Tippfehler.</a:t>
            </a:r>
            <a:endParaRPr/>
          </a:p>
        </p:txBody>
      </p:sp>
      <p:sp>
        <p:nvSpPr>
          <p:cNvPr id="154" name="Google Shape;154;p17"/>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3: Anpassung der main.cf (Server-World)</a:t>
            </a:r>
            <a:endParaRPr/>
          </a:p>
        </p:txBody>
      </p:sp>
      <p:sp>
        <p:nvSpPr>
          <p:cNvPr id="155" name="Google Shape;155;p17"/>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590550" y="2679650"/>
            <a:ext cx="5314950" cy="2068562"/>
          </a:xfrm>
          <a:prstGeom prst="rect">
            <a:avLst/>
          </a:prstGeom>
          <a:noFill/>
          <a:ln>
            <a:noFill/>
          </a:ln>
        </p:spPr>
      </p:pic>
      <p:pic>
        <p:nvPicPr>
          <p:cNvPr descr="image.png" id="162" name="Google Shape;162;p18"/>
          <p:cNvPicPr preferRelativeResize="0"/>
          <p:nvPr/>
        </p:nvPicPr>
        <p:blipFill rotWithShape="1">
          <a:blip r:embed="rId5">
            <a:alphaModFix/>
          </a:blip>
          <a:srcRect b="0" l="0" r="0" t="0"/>
          <a:stretch/>
        </p:blipFill>
        <p:spPr>
          <a:xfrm>
            <a:off x="6286500" y="3963441"/>
            <a:ext cx="5314950" cy="1340643"/>
          </a:xfrm>
          <a:prstGeom prst="rect">
            <a:avLst/>
          </a:prstGeom>
          <a:noFill/>
          <a:ln>
            <a:noFill/>
          </a:ln>
        </p:spPr>
      </p:pic>
      <p:pic>
        <p:nvPicPr>
          <p:cNvPr descr="image.png" id="163" name="Google Shape;163;p18"/>
          <p:cNvPicPr preferRelativeResize="0"/>
          <p:nvPr/>
        </p:nvPicPr>
        <p:blipFill rotWithShape="1">
          <a:blip r:embed="rId6">
            <a:alphaModFix/>
          </a:blip>
          <a:srcRect b="0" l="0" r="0" t="0"/>
          <a:stretch/>
        </p:blipFill>
        <p:spPr>
          <a:xfrm>
            <a:off x="857250" y="944760"/>
            <a:ext cx="381000" cy="381000"/>
          </a:xfrm>
          <a:prstGeom prst="rect">
            <a:avLst/>
          </a:prstGeom>
          <a:noFill/>
          <a:ln>
            <a:noFill/>
          </a:ln>
        </p:spPr>
      </p:pic>
      <p:sp>
        <p:nvSpPr>
          <p:cNvPr id="164" name="Google Shape;164;p18"/>
          <p:cNvSpPr txBox="1"/>
          <p:nvPr/>
        </p:nvSpPr>
        <p:spPr>
          <a:xfrm>
            <a:off x="838200" y="2927300"/>
            <a:ext cx="5060632"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Was ist ein Open Relay?</a:t>
            </a:r>
            <a:endParaRPr/>
          </a:p>
        </p:txBody>
      </p:sp>
      <p:sp>
        <p:nvSpPr>
          <p:cNvPr id="165" name="Google Shape;165;p18"/>
          <p:cNvSpPr txBox="1"/>
          <p:nvPr/>
        </p:nvSpPr>
        <p:spPr>
          <a:xfrm>
            <a:off x="838200" y="3451175"/>
            <a:ext cx="48196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Ein Mailserver, der E-Mails von </a:t>
            </a:r>
            <a:r>
              <a:rPr b="1" i="0" lang="en-US" sz="1425" u="none" cap="none" strike="noStrike">
                <a:solidFill>
                  <a:srgbClr val="334155"/>
                </a:solidFill>
                <a:latin typeface="DM Sans"/>
                <a:ea typeface="DM Sans"/>
                <a:cs typeface="DM Sans"/>
                <a:sym typeface="DM Sans"/>
              </a:rPr>
              <a:t>jedem beliebigen Absender</a:t>
            </a:r>
            <a:r>
              <a:rPr b="0" i="0" lang="en-US" sz="1425" u="none" cap="none" strike="noStrike">
                <a:solidFill>
                  <a:srgbClr val="334155"/>
                </a:solidFill>
                <a:latin typeface="DM Sans"/>
                <a:ea typeface="DM Sans"/>
                <a:cs typeface="DM Sans"/>
                <a:sym typeface="DM Sans"/>
              </a:rPr>
              <a:t> an </a:t>
            </a:r>
            <a:r>
              <a:rPr b="1" i="0" lang="en-US" sz="1425" u="none" cap="none" strike="noStrike">
                <a:solidFill>
                  <a:srgbClr val="334155"/>
                </a:solidFill>
                <a:latin typeface="DM Sans"/>
                <a:ea typeface="DM Sans"/>
                <a:cs typeface="DM Sans"/>
                <a:sym typeface="DM Sans"/>
              </a:rPr>
              <a:t>jede beliebige Zieladresse</a:t>
            </a:r>
            <a:r>
              <a:rPr b="0" i="0" lang="en-US" sz="1425" u="none" cap="none" strike="noStrike">
                <a:solidFill>
                  <a:srgbClr val="334155"/>
                </a:solidFill>
                <a:latin typeface="DM Sans"/>
                <a:ea typeface="DM Sans"/>
                <a:cs typeface="DM Sans"/>
                <a:sym typeface="DM Sans"/>
              </a:rPr>
              <a:t> weiterleitet, ohne Authentifizierung.</a:t>
            </a:r>
            <a:endParaRPr/>
          </a:p>
        </p:txBody>
      </p:sp>
      <p:sp>
        <p:nvSpPr>
          <p:cNvPr id="166" name="Google Shape;166;p18"/>
          <p:cNvSpPr txBox="1"/>
          <p:nvPr/>
        </p:nvSpPr>
        <p:spPr>
          <a:xfrm>
            <a:off x="6286500" y="2679650"/>
            <a:ext cx="5580697"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Die Absicherung in der main.cf</a:t>
            </a:r>
            <a:endParaRPr/>
          </a:p>
        </p:txBody>
      </p:sp>
      <p:sp>
        <p:nvSpPr>
          <p:cNvPr id="167" name="Google Shape;167;p18"/>
          <p:cNvSpPr txBox="1"/>
          <p:nvPr/>
        </p:nvSpPr>
        <p:spPr>
          <a:xfrm>
            <a:off x="6286500" y="3203525"/>
            <a:ext cx="5314950" cy="578941"/>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Wir erlauben den Mail-Versand strikt nur dem lokalen System und dem eigenen Subnetz:</a:t>
            </a:r>
            <a:endParaRPr/>
          </a:p>
        </p:txBody>
      </p:sp>
      <p:sp>
        <p:nvSpPr>
          <p:cNvPr id="168" name="Google Shape;168;p18"/>
          <p:cNvSpPr txBox="1"/>
          <p:nvPr/>
        </p:nvSpPr>
        <p:spPr>
          <a:xfrm>
            <a:off x="781050" y="906660"/>
            <a:ext cx="11361420"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Achtung: Das "Open Relay"-Risiko</a:t>
            </a:r>
            <a:endParaRPr/>
          </a:p>
        </p:txBody>
      </p:sp>
      <p:sp>
        <p:nvSpPr>
          <p:cNvPr id="169" name="Google Shape;169;p18"/>
          <p:cNvSpPr/>
          <p:nvPr/>
        </p:nvSpPr>
        <p:spPr>
          <a:xfrm>
            <a:off x="590550" y="906660"/>
            <a:ext cx="76200" cy="476250"/>
          </a:xfrm>
          <a:prstGeom prst="rect">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descr="image.png" id="174" name="Google Shape;17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5" name="Google Shape;175;p19"/>
          <p:cNvPicPr preferRelativeResize="0"/>
          <p:nvPr/>
        </p:nvPicPr>
        <p:blipFill rotWithShape="1">
          <a:blip r:embed="rId4">
            <a:alphaModFix/>
          </a:blip>
          <a:srcRect b="0" l="0" r="0" t="0"/>
          <a:stretch/>
        </p:blipFill>
        <p:spPr>
          <a:xfrm>
            <a:off x="6286500" y="2774751"/>
            <a:ext cx="5334000" cy="2068562"/>
          </a:xfrm>
          <a:prstGeom prst="rect">
            <a:avLst/>
          </a:prstGeom>
          <a:noFill/>
          <a:ln>
            <a:noFill/>
          </a:ln>
        </p:spPr>
      </p:pic>
      <p:pic>
        <p:nvPicPr>
          <p:cNvPr descr="image.png" id="176" name="Google Shape;176;p19"/>
          <p:cNvPicPr preferRelativeResize="0"/>
          <p:nvPr/>
        </p:nvPicPr>
        <p:blipFill rotWithShape="1">
          <a:blip r:embed="rId5">
            <a:alphaModFix/>
          </a:blip>
          <a:srcRect b="0" l="0" r="0" t="0"/>
          <a:stretch/>
        </p:blipFill>
        <p:spPr>
          <a:xfrm>
            <a:off x="571500" y="4348013"/>
            <a:ext cx="5334000" cy="860821"/>
          </a:xfrm>
          <a:prstGeom prst="rect">
            <a:avLst/>
          </a:prstGeom>
          <a:noFill/>
          <a:ln>
            <a:noFill/>
          </a:ln>
        </p:spPr>
      </p:pic>
      <p:sp>
        <p:nvSpPr>
          <p:cNvPr id="177" name="Google Shape;177;p19"/>
          <p:cNvSpPr txBox="1"/>
          <p:nvPr/>
        </p:nvSpPr>
        <p:spPr>
          <a:xfrm>
            <a:off x="571500" y="2774751"/>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Das moderne Maildir-Format</a:t>
            </a:r>
            <a:endParaRPr/>
          </a:p>
        </p:txBody>
      </p:sp>
      <p:sp>
        <p:nvSpPr>
          <p:cNvPr id="178" name="Google Shape;178;p19"/>
          <p:cNvSpPr txBox="1"/>
          <p:nvPr/>
        </p:nvSpPr>
        <p:spPr>
          <a:xfrm>
            <a:off x="571500" y="3298626"/>
            <a:ext cx="53340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Server-World nutzt oft das alte *Mailbox*-Format (eine einzige Riesen-Datei). Wir nutzen das modernere, crash-sichere </a:t>
            </a:r>
            <a:r>
              <a:rPr b="1" i="0" lang="en-US" sz="1425" u="none" cap="none" strike="noStrike">
                <a:solidFill>
                  <a:srgbClr val="334155"/>
                </a:solidFill>
                <a:latin typeface="DM Sans"/>
                <a:ea typeface="DM Sans"/>
                <a:cs typeface="DM Sans"/>
                <a:sym typeface="DM Sans"/>
              </a:rPr>
              <a:t>Maildir</a:t>
            </a:r>
            <a:r>
              <a:rPr b="0" i="0" lang="en-US" sz="1425" u="none" cap="none" strike="noStrike">
                <a:solidFill>
                  <a:srgbClr val="334155"/>
                </a:solidFill>
                <a:latin typeface="DM Sans"/>
                <a:ea typeface="DM Sans"/>
                <a:cs typeface="DM Sans"/>
                <a:sym typeface="DM Sans"/>
              </a:rPr>
              <a:t> (jede Mail eine eigene Datei).</a:t>
            </a:r>
            <a:endParaRPr/>
          </a:p>
        </p:txBody>
      </p:sp>
      <p:sp>
        <p:nvSpPr>
          <p:cNvPr id="179" name="Google Shape;179;p19"/>
          <p:cNvSpPr txBox="1"/>
          <p:nvPr/>
        </p:nvSpPr>
        <p:spPr>
          <a:xfrm>
            <a:off x="6534150" y="3022401"/>
            <a:ext cx="508063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Die Dovecot-Kopplung</a:t>
            </a:r>
            <a:endParaRPr/>
          </a:p>
        </p:txBody>
      </p:sp>
      <p:sp>
        <p:nvSpPr>
          <p:cNvPr id="180" name="Google Shape;180;p19"/>
          <p:cNvSpPr txBox="1"/>
          <p:nvPr/>
        </p:nvSpPr>
        <p:spPr>
          <a:xfrm>
            <a:off x="6534150" y="3546276"/>
            <a:ext cx="483870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Damit der MDA (Dovecot) weiß, wo Postfix die Mails ablegt, müssen beide exakt denselben Pfad nutzen. Dovecot liest später aus `~/Maildir/` heraus.</a:t>
            </a:r>
            <a:endParaRPr/>
          </a:p>
        </p:txBody>
      </p:sp>
      <p:sp>
        <p:nvSpPr>
          <p:cNvPr id="181" name="Google Shape;181;p19"/>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4: Postfächer definieren (Maildir)</a:t>
            </a:r>
            <a:endParaRPr/>
          </a:p>
        </p:txBody>
      </p:sp>
      <p:sp>
        <p:nvSpPr>
          <p:cNvPr id="182" name="Google Shape;182;p19"/>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pic>
        <p:nvPicPr>
          <p:cNvPr descr="image.png" id="187" name="Google Shape;18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8" name="Google Shape;188;p20"/>
          <p:cNvPicPr preferRelativeResize="0"/>
          <p:nvPr/>
        </p:nvPicPr>
        <p:blipFill rotWithShape="1">
          <a:blip r:embed="rId4">
            <a:alphaModFix/>
          </a:blip>
          <a:srcRect b="0" l="0" r="0" t="0"/>
          <a:stretch/>
        </p:blipFill>
        <p:spPr>
          <a:xfrm>
            <a:off x="571500" y="3238797"/>
            <a:ext cx="11049000" cy="2300287"/>
          </a:xfrm>
          <a:prstGeom prst="rect">
            <a:avLst/>
          </a:prstGeom>
          <a:noFill/>
          <a:ln>
            <a:noFill/>
          </a:ln>
        </p:spPr>
      </p:pic>
      <p:sp>
        <p:nvSpPr>
          <p:cNvPr id="189" name="Google Shape;189;p20"/>
          <p:cNvSpPr txBox="1"/>
          <p:nvPr/>
        </p:nvSpPr>
        <p:spPr>
          <a:xfrm>
            <a:off x="571500" y="2625476"/>
            <a:ext cx="110490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Bevor der Dienst gestartet wird, jagen wir die Konfiguration durch den internen Compiler von Postfix, um Tippfehler aufzuspüren.</a:t>
            </a:r>
            <a:endParaRPr/>
          </a:p>
        </p:txBody>
      </p:sp>
      <p:sp>
        <p:nvSpPr>
          <p:cNvPr id="190" name="Google Shape;190;p20"/>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5: Syntax-Check und Aktivierung</a:t>
            </a:r>
            <a:endParaRPr/>
          </a:p>
        </p:txBody>
      </p:sp>
      <p:sp>
        <p:nvSpPr>
          <p:cNvPr id="191" name="Google Shape;191;p20"/>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pic>
        <p:nvPicPr>
          <p:cNvPr descr="image.png" id="196" name="Google Shape;196;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7" name="Google Shape;197;p21"/>
          <p:cNvPicPr preferRelativeResize="0"/>
          <p:nvPr/>
        </p:nvPicPr>
        <p:blipFill rotWithShape="1">
          <a:blip r:embed="rId4">
            <a:alphaModFix/>
          </a:blip>
          <a:srcRect b="0" l="0" r="0" t="0"/>
          <a:stretch/>
        </p:blipFill>
        <p:spPr>
          <a:xfrm>
            <a:off x="571500" y="3132087"/>
            <a:ext cx="11049000" cy="2513707"/>
          </a:xfrm>
          <a:prstGeom prst="rect">
            <a:avLst/>
          </a:prstGeom>
          <a:noFill/>
          <a:ln>
            <a:noFill/>
          </a:ln>
        </p:spPr>
      </p:pic>
      <p:sp>
        <p:nvSpPr>
          <p:cNvPr id="198" name="Google Shape;198;p21"/>
          <p:cNvSpPr txBox="1"/>
          <p:nvPr/>
        </p:nvSpPr>
        <p:spPr>
          <a:xfrm>
            <a:off x="571500" y="2518767"/>
            <a:ext cx="110490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Wir testen den Server wie echte Admins direkt auf Protokoll-Ebene (Port 25):</a:t>
            </a:r>
            <a:endParaRPr/>
          </a:p>
        </p:txBody>
      </p:sp>
      <p:sp>
        <p:nvSpPr>
          <p:cNvPr id="199" name="Google Shape;199;p21"/>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Schritt 6: Der "Handshake"-Test über Telnet</a:t>
            </a:r>
            <a:endParaRPr/>
          </a:p>
        </p:txBody>
      </p:sp>
      <p:sp>
        <p:nvSpPr>
          <p:cNvPr id="200" name="Google Shape;200;p21"/>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4" name="Shape 204"/>
        <p:cNvGrpSpPr/>
        <p:nvPr/>
      </p:nvGrpSpPr>
      <p:grpSpPr>
        <a:xfrm>
          <a:off x="0" y="0"/>
          <a:ext cx="0" cy="0"/>
          <a:chOff x="0" y="0"/>
          <a:chExt cx="0" cy="0"/>
        </a:xfrm>
      </p:grpSpPr>
      <p:pic>
        <p:nvPicPr>
          <p:cNvPr descr="image.png" id="205" name="Google Shape;20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6" name="Google Shape;206;p22"/>
          <p:cNvPicPr preferRelativeResize="0"/>
          <p:nvPr/>
        </p:nvPicPr>
        <p:blipFill rotWithShape="1">
          <a:blip r:embed="rId4">
            <a:alphaModFix/>
          </a:blip>
          <a:srcRect b="0" l="0" r="0" t="0"/>
          <a:stretch/>
        </p:blipFill>
        <p:spPr>
          <a:xfrm>
            <a:off x="5267325" y="2322165"/>
            <a:ext cx="1657350" cy="285750"/>
          </a:xfrm>
          <a:prstGeom prst="rect">
            <a:avLst/>
          </a:prstGeom>
          <a:noFill/>
          <a:ln>
            <a:noFill/>
          </a:ln>
        </p:spPr>
      </p:pic>
      <p:sp>
        <p:nvSpPr>
          <p:cNvPr id="207" name="Google Shape;207;p22"/>
          <p:cNvSpPr txBox="1"/>
          <p:nvPr/>
        </p:nvSpPr>
        <p:spPr>
          <a:xfrm>
            <a:off x="875347" y="2703165"/>
            <a:ext cx="10441305" cy="666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Merriweather"/>
                <a:ea typeface="Merriweather"/>
                <a:cs typeface="Merriweather"/>
                <a:sym typeface="Merriweather"/>
              </a:rPr>
              <a:t>Der moderne Weg: Docker-Mailserver</a:t>
            </a:r>
            <a:endParaRPr/>
          </a:p>
        </p:txBody>
      </p:sp>
      <p:sp>
        <p:nvSpPr>
          <p:cNvPr id="208" name="Google Shape;208;p22"/>
          <p:cNvSpPr/>
          <p:nvPr/>
        </p:nvSpPr>
        <p:spPr>
          <a:xfrm>
            <a:off x="5715000" y="3608040"/>
            <a:ext cx="762000" cy="381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2"/>
          <p:cNvSpPr txBox="1"/>
          <p:nvPr/>
        </p:nvSpPr>
        <p:spPr>
          <a:xfrm>
            <a:off x="3614737" y="4065240"/>
            <a:ext cx="4962525" cy="289470"/>
          </a:xfrm>
          <a:prstGeom prst="rect">
            <a:avLst/>
          </a:prstGeom>
          <a:noFill/>
          <a:ln>
            <a:noFill/>
          </a:ln>
        </p:spPr>
        <p:txBody>
          <a:bodyPr anchorCtr="0" anchor="t" bIns="0" lIns="0" spcFirstLastPara="1" rIns="0" wrap="square" tIns="0">
            <a:spAutoFit/>
          </a:bodyPr>
          <a:lstStyle/>
          <a:p>
            <a:pPr indent="0" lvl="0" marL="0" marR="0" rtl="0" algn="ctr">
              <a:lnSpc>
                <a:spcPct val="159929"/>
              </a:lnSpc>
              <a:spcBef>
                <a:spcPts val="0"/>
              </a:spcBef>
              <a:spcAft>
                <a:spcPts val="0"/>
              </a:spcAft>
              <a:buNone/>
            </a:pPr>
            <a:r>
              <a:rPr b="0" i="0" lang="en-US" sz="1425" u="none" cap="none" strike="noStrike">
                <a:solidFill>
                  <a:srgbClr val="94A3B8"/>
                </a:solidFill>
                <a:latin typeface="DM Sans"/>
                <a:ea typeface="DM Sans"/>
                <a:cs typeface="DM Sans"/>
                <a:sym typeface="DM Sans"/>
              </a:rPr>
              <a:t>Schlüsselfertige Infrastruktur ohne Konfigurations-Schmerz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pic>
        <p:nvPicPr>
          <p:cNvPr descr="image.png" id="214" name="Google Shape;214;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5" name="Google Shape;215;p23"/>
          <p:cNvPicPr preferRelativeResize="0"/>
          <p:nvPr/>
        </p:nvPicPr>
        <p:blipFill rotWithShape="1">
          <a:blip r:embed="rId4">
            <a:alphaModFix/>
          </a:blip>
          <a:srcRect b="0" l="0" r="0" t="0"/>
          <a:stretch/>
        </p:blipFill>
        <p:spPr>
          <a:xfrm>
            <a:off x="571500" y="2522339"/>
            <a:ext cx="3555950" cy="2939057"/>
          </a:xfrm>
          <a:prstGeom prst="rect">
            <a:avLst/>
          </a:prstGeom>
          <a:noFill/>
          <a:ln>
            <a:noFill/>
          </a:ln>
        </p:spPr>
      </p:pic>
      <p:pic>
        <p:nvPicPr>
          <p:cNvPr descr="image.png" id="216" name="Google Shape;216;p23"/>
          <p:cNvPicPr preferRelativeResize="0"/>
          <p:nvPr/>
        </p:nvPicPr>
        <p:blipFill rotWithShape="1">
          <a:blip r:embed="rId5">
            <a:alphaModFix/>
          </a:blip>
          <a:srcRect b="0" l="0" r="0" t="0"/>
          <a:stretch/>
        </p:blipFill>
        <p:spPr>
          <a:xfrm>
            <a:off x="4317950" y="2522339"/>
            <a:ext cx="3555950" cy="2939057"/>
          </a:xfrm>
          <a:prstGeom prst="rect">
            <a:avLst/>
          </a:prstGeom>
          <a:noFill/>
          <a:ln>
            <a:noFill/>
          </a:ln>
        </p:spPr>
      </p:pic>
      <p:pic>
        <p:nvPicPr>
          <p:cNvPr descr="image.png" id="217" name="Google Shape;217;p23"/>
          <p:cNvPicPr preferRelativeResize="0"/>
          <p:nvPr/>
        </p:nvPicPr>
        <p:blipFill rotWithShape="1">
          <a:blip r:embed="rId6">
            <a:alphaModFix/>
          </a:blip>
          <a:srcRect b="0" l="0" r="0" t="0"/>
          <a:stretch/>
        </p:blipFill>
        <p:spPr>
          <a:xfrm>
            <a:off x="8064400" y="2522339"/>
            <a:ext cx="3555950" cy="2939057"/>
          </a:xfrm>
          <a:prstGeom prst="rect">
            <a:avLst/>
          </a:prstGeom>
          <a:noFill/>
          <a:ln>
            <a:noFill/>
          </a:ln>
        </p:spPr>
      </p:pic>
      <p:sp>
        <p:nvSpPr>
          <p:cNvPr id="218" name="Google Shape;218;p23"/>
          <p:cNvSpPr txBox="1"/>
          <p:nvPr/>
        </p:nvSpPr>
        <p:spPr>
          <a:xfrm>
            <a:off x="819150" y="3351014"/>
            <a:ext cx="3213682"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All-in-One</a:t>
            </a:r>
            <a:endParaRPr/>
          </a:p>
        </p:txBody>
      </p:sp>
      <p:sp>
        <p:nvSpPr>
          <p:cNvPr id="219" name="Google Shape;219;p23"/>
          <p:cNvSpPr txBox="1"/>
          <p:nvPr/>
        </p:nvSpPr>
        <p:spPr>
          <a:xfrm>
            <a:off x="819150" y="3874889"/>
            <a:ext cx="3060650"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Ein einziges Image enthält Postfix, Dovecot, SpamAssassin (Spam-Schutz), ClamAV (Virenscanner) und OpenDKIM.</a:t>
            </a:r>
            <a:endParaRPr/>
          </a:p>
        </p:txBody>
      </p:sp>
      <p:sp>
        <p:nvSpPr>
          <p:cNvPr id="220" name="Google Shape;220;p23"/>
          <p:cNvSpPr txBox="1"/>
          <p:nvPr/>
        </p:nvSpPr>
        <p:spPr>
          <a:xfrm>
            <a:off x="4565600" y="3351014"/>
            <a:ext cx="3213682"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Minuten-Setup</a:t>
            </a:r>
            <a:endParaRPr/>
          </a:p>
        </p:txBody>
      </p:sp>
      <p:sp>
        <p:nvSpPr>
          <p:cNvPr id="221" name="Google Shape;221;p23"/>
          <p:cNvSpPr txBox="1"/>
          <p:nvPr/>
        </p:nvSpPr>
        <p:spPr>
          <a:xfrm>
            <a:off x="4565600" y="3874889"/>
            <a:ext cx="30606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Die manuelle Konfiguration von 5 korrespondierenden Diensten entfällt komplett.</a:t>
            </a:r>
            <a:endParaRPr/>
          </a:p>
        </p:txBody>
      </p:sp>
      <p:sp>
        <p:nvSpPr>
          <p:cNvPr id="222" name="Google Shape;222;p23"/>
          <p:cNvSpPr txBox="1"/>
          <p:nvPr/>
        </p:nvSpPr>
        <p:spPr>
          <a:xfrm>
            <a:off x="8312050" y="3351014"/>
            <a:ext cx="3213682"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Isolierung</a:t>
            </a:r>
            <a:endParaRPr/>
          </a:p>
        </p:txBody>
      </p:sp>
      <p:sp>
        <p:nvSpPr>
          <p:cNvPr id="223" name="Google Shape;223;p23"/>
          <p:cNvSpPr txBox="1"/>
          <p:nvPr/>
        </p:nvSpPr>
        <p:spPr>
          <a:xfrm>
            <a:off x="8312050" y="3874889"/>
            <a:ext cx="3060650" cy="86841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Sicherheit durch Container-Grenzen. Keine Host-Verschmutzung.</a:t>
            </a:r>
            <a:endParaRPr/>
          </a:p>
        </p:txBody>
      </p:sp>
      <p:pic>
        <p:nvPicPr>
          <p:cNvPr descr="image.png" id="224" name="Google Shape;224;p23"/>
          <p:cNvPicPr preferRelativeResize="0"/>
          <p:nvPr/>
        </p:nvPicPr>
        <p:blipFill rotWithShape="1">
          <a:blip r:embed="rId7">
            <a:alphaModFix/>
          </a:blip>
          <a:srcRect b="0" l="0" r="0" t="0"/>
          <a:stretch/>
        </p:blipFill>
        <p:spPr>
          <a:xfrm>
            <a:off x="819150" y="2817614"/>
            <a:ext cx="419100" cy="333375"/>
          </a:xfrm>
          <a:prstGeom prst="rect">
            <a:avLst/>
          </a:prstGeom>
          <a:noFill/>
          <a:ln>
            <a:noFill/>
          </a:ln>
        </p:spPr>
      </p:pic>
      <p:pic>
        <p:nvPicPr>
          <p:cNvPr descr="image.png" id="225" name="Google Shape;225;p23"/>
          <p:cNvPicPr preferRelativeResize="0"/>
          <p:nvPr/>
        </p:nvPicPr>
        <p:blipFill rotWithShape="1">
          <a:blip r:embed="rId8">
            <a:alphaModFix/>
          </a:blip>
          <a:srcRect b="0" l="0" r="0" t="0"/>
          <a:stretch/>
        </p:blipFill>
        <p:spPr>
          <a:xfrm>
            <a:off x="4565600" y="2817614"/>
            <a:ext cx="333375" cy="333375"/>
          </a:xfrm>
          <a:prstGeom prst="rect">
            <a:avLst/>
          </a:prstGeom>
          <a:noFill/>
          <a:ln>
            <a:noFill/>
          </a:ln>
        </p:spPr>
      </p:pic>
      <p:pic>
        <p:nvPicPr>
          <p:cNvPr descr="image.png" id="226" name="Google Shape;226;p23"/>
          <p:cNvPicPr preferRelativeResize="0"/>
          <p:nvPr/>
        </p:nvPicPr>
        <p:blipFill rotWithShape="1">
          <a:blip r:embed="rId9">
            <a:alphaModFix/>
          </a:blip>
          <a:srcRect b="0" l="0" r="0" t="0"/>
          <a:stretch/>
        </p:blipFill>
        <p:spPr>
          <a:xfrm>
            <a:off x="8312050" y="2817614"/>
            <a:ext cx="333375" cy="333375"/>
          </a:xfrm>
          <a:prstGeom prst="rect">
            <a:avLst/>
          </a:prstGeom>
          <a:noFill/>
          <a:ln>
            <a:noFill/>
          </a:ln>
        </p:spPr>
      </p:pic>
      <p:sp>
        <p:nvSpPr>
          <p:cNvPr id="227" name="Google Shape;227;p23"/>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Warum Docker für Mailserver?</a:t>
            </a:r>
            <a:endParaRPr/>
          </a:p>
        </p:txBody>
      </p:sp>
      <p:sp>
        <p:nvSpPr>
          <p:cNvPr id="228" name="Google Shape;228;p23"/>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pic>
        <p:nvPicPr>
          <p:cNvPr descr="image.png" id="233" name="Google Shape;233;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4" name="Google Shape;234;p24"/>
          <p:cNvPicPr preferRelativeResize="0"/>
          <p:nvPr/>
        </p:nvPicPr>
        <p:blipFill rotWithShape="1">
          <a:blip r:embed="rId4">
            <a:alphaModFix/>
          </a:blip>
          <a:srcRect b="0" l="0" r="0" t="0"/>
          <a:stretch/>
        </p:blipFill>
        <p:spPr>
          <a:xfrm>
            <a:off x="571500" y="2991147"/>
            <a:ext cx="11049000" cy="2795587"/>
          </a:xfrm>
          <a:prstGeom prst="rect">
            <a:avLst/>
          </a:prstGeom>
          <a:noFill/>
          <a:ln>
            <a:noFill/>
          </a:ln>
        </p:spPr>
      </p:pic>
      <p:sp>
        <p:nvSpPr>
          <p:cNvPr id="235" name="Google Shape;235;p24"/>
          <p:cNvSpPr txBox="1"/>
          <p:nvPr/>
        </p:nvSpPr>
        <p:spPr>
          <a:xfrm>
            <a:off x="571500" y="2377826"/>
            <a:ext cx="11049000" cy="28947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Wir nutzen den Branchen-Standard docker-mailserver/docker-mailserver. Die Konfiguration erfolgt rein über Umgebungsvariablen:</a:t>
            </a:r>
            <a:endParaRPr/>
          </a:p>
        </p:txBody>
      </p:sp>
      <p:sp>
        <p:nvSpPr>
          <p:cNvPr id="236" name="Google Shape;236;p24"/>
          <p:cNvSpPr txBox="1"/>
          <p:nvPr/>
        </p:nvSpPr>
        <p:spPr>
          <a:xfrm>
            <a:off x="762000" y="88761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Praxis: `docker-compose.yml` (docker-mailserver)</a:t>
            </a:r>
            <a:endParaRPr/>
          </a:p>
        </p:txBody>
      </p:sp>
      <p:sp>
        <p:nvSpPr>
          <p:cNvPr id="237" name="Google Shape;237;p24"/>
          <p:cNvSpPr/>
          <p:nvPr/>
        </p:nvSpPr>
        <p:spPr>
          <a:xfrm>
            <a:off x="571500" y="88761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1" name="Shape 241"/>
        <p:cNvGrpSpPr/>
        <p:nvPr/>
      </p:nvGrpSpPr>
      <p:grpSpPr>
        <a:xfrm>
          <a:off x="0" y="0"/>
          <a:ext cx="0" cy="0"/>
          <a:chOff x="0" y="0"/>
          <a:chExt cx="0" cy="0"/>
        </a:xfrm>
      </p:grpSpPr>
      <p:pic>
        <p:nvPicPr>
          <p:cNvPr descr="image.png" id="242" name="Google Shape;24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3" name="Google Shape;243;p25"/>
          <p:cNvPicPr preferRelativeResize="0"/>
          <p:nvPr/>
        </p:nvPicPr>
        <p:blipFill rotWithShape="1">
          <a:blip r:embed="rId4">
            <a:alphaModFix/>
          </a:blip>
          <a:srcRect b="0" l="0" r="0" t="0"/>
          <a:stretch/>
        </p:blipFill>
        <p:spPr>
          <a:xfrm>
            <a:off x="571500" y="2744241"/>
            <a:ext cx="5334000" cy="2590353"/>
          </a:xfrm>
          <a:prstGeom prst="rect">
            <a:avLst/>
          </a:prstGeom>
          <a:noFill/>
          <a:ln>
            <a:noFill/>
          </a:ln>
        </p:spPr>
      </p:pic>
      <p:sp>
        <p:nvSpPr>
          <p:cNvPr id="244" name="Google Shape;244;p25"/>
          <p:cNvSpPr/>
          <p:nvPr/>
        </p:nvSpPr>
        <p:spPr>
          <a:xfrm>
            <a:off x="0" y="0"/>
            <a:ext cx="12192000" cy="9525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5"/>
          <p:cNvSpPr txBox="1"/>
          <p:nvPr/>
        </p:nvSpPr>
        <p:spPr>
          <a:xfrm>
            <a:off x="819150" y="2991891"/>
            <a:ext cx="508063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Euer Auftrag</a:t>
            </a:r>
            <a:endParaRPr/>
          </a:p>
        </p:txBody>
      </p:sp>
      <p:sp>
        <p:nvSpPr>
          <p:cNvPr id="246" name="Google Shape;246;p25"/>
          <p:cNvSpPr txBox="1"/>
          <p:nvPr/>
        </p:nvSpPr>
        <p:spPr>
          <a:xfrm>
            <a:off x="6286500" y="2744241"/>
            <a:ext cx="56007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E3A8A"/>
                </a:solidFill>
                <a:latin typeface="Merriweather"/>
                <a:ea typeface="Merriweather"/>
                <a:cs typeface="Merriweather"/>
                <a:sym typeface="Merriweather"/>
              </a:rPr>
              <a:t>Lernziel erreicht, wenn...</a:t>
            </a:r>
            <a:endParaRPr/>
          </a:p>
        </p:txBody>
      </p:sp>
      <p:sp>
        <p:nvSpPr>
          <p:cNvPr id="247" name="Google Shape;247;p25"/>
          <p:cNvSpPr txBox="1"/>
          <p:nvPr/>
        </p:nvSpPr>
        <p:spPr>
          <a:xfrm>
            <a:off x="6286500" y="3268116"/>
            <a:ext cx="5334000" cy="1157882"/>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...ihr verstanden habt, wie SMTP im Kern funktioniert. Docker nimmt uns später das Tippen ab, aber wenn das DNS oder die Netzwerkkette hakt, hilft auch kein Container. Ihr müsst das System unter der Haube kennen!</a:t>
            </a:r>
            <a:endParaRPr/>
          </a:p>
        </p:txBody>
      </p:sp>
      <p:sp>
        <p:nvSpPr>
          <p:cNvPr id="248" name="Google Shape;248;p25"/>
          <p:cNvSpPr txBox="1"/>
          <p:nvPr/>
        </p:nvSpPr>
        <p:spPr>
          <a:xfrm>
            <a:off x="1104900" y="3489096"/>
            <a:ext cx="952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1.</a:t>
            </a:r>
            <a:endParaRPr/>
          </a:p>
        </p:txBody>
      </p:sp>
      <p:sp>
        <p:nvSpPr>
          <p:cNvPr id="249" name="Google Shape;249;p25"/>
          <p:cNvSpPr txBox="1"/>
          <p:nvPr/>
        </p:nvSpPr>
        <p:spPr>
          <a:xfrm>
            <a:off x="1200150" y="3487191"/>
            <a:ext cx="4457700" cy="578941"/>
          </a:xfrm>
          <a:prstGeom prst="rect">
            <a:avLst/>
          </a:prstGeom>
          <a:noFill/>
          <a:ln>
            <a:noFill/>
          </a:ln>
        </p:spPr>
        <p:txBody>
          <a:bodyPr anchorCtr="0" anchor="t" bIns="0" lIns="95250"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Richtet manuell das DNS und Postfix auf eurer VM ein.</a:t>
            </a:r>
            <a:endParaRPr/>
          </a:p>
        </p:txBody>
      </p:sp>
      <p:sp>
        <p:nvSpPr>
          <p:cNvPr id="250" name="Google Shape;250;p25"/>
          <p:cNvSpPr txBox="1"/>
          <p:nvPr/>
        </p:nvSpPr>
        <p:spPr>
          <a:xfrm>
            <a:off x="1057275" y="4068038"/>
            <a:ext cx="1428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2.</a:t>
            </a:r>
            <a:endParaRPr/>
          </a:p>
        </p:txBody>
      </p:sp>
      <p:sp>
        <p:nvSpPr>
          <p:cNvPr id="251" name="Google Shape;251;p25"/>
          <p:cNvSpPr txBox="1"/>
          <p:nvPr/>
        </p:nvSpPr>
        <p:spPr>
          <a:xfrm>
            <a:off x="1200150" y="4066133"/>
            <a:ext cx="4457700" cy="289470"/>
          </a:xfrm>
          <a:prstGeom prst="rect">
            <a:avLst/>
          </a:prstGeom>
          <a:noFill/>
          <a:ln>
            <a:noFill/>
          </a:ln>
        </p:spPr>
        <p:txBody>
          <a:bodyPr anchorCtr="0" anchor="t" bIns="0" lIns="142875"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Schickt euch gegenseitig Mails per Telnet.</a:t>
            </a:r>
            <a:endParaRPr/>
          </a:p>
        </p:txBody>
      </p:sp>
      <p:sp>
        <p:nvSpPr>
          <p:cNvPr id="252" name="Google Shape;252;p25"/>
          <p:cNvSpPr txBox="1"/>
          <p:nvPr/>
        </p:nvSpPr>
        <p:spPr>
          <a:xfrm>
            <a:off x="1057275" y="4357508"/>
            <a:ext cx="142875"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25" u="none" cap="none" strike="noStrike">
                <a:solidFill>
                  <a:srgbClr val="334155"/>
                </a:solidFill>
                <a:latin typeface="DM Sans"/>
                <a:ea typeface="DM Sans"/>
                <a:cs typeface="DM Sans"/>
                <a:sym typeface="DM Sans"/>
              </a:rPr>
              <a:t>3.</a:t>
            </a:r>
            <a:endParaRPr/>
          </a:p>
        </p:txBody>
      </p:sp>
      <p:sp>
        <p:nvSpPr>
          <p:cNvPr id="253" name="Google Shape;253;p25"/>
          <p:cNvSpPr txBox="1"/>
          <p:nvPr/>
        </p:nvSpPr>
        <p:spPr>
          <a:xfrm>
            <a:off x="1200150" y="4355603"/>
            <a:ext cx="4457700" cy="578941"/>
          </a:xfrm>
          <a:prstGeom prst="rect">
            <a:avLst/>
          </a:prstGeom>
          <a:noFill/>
          <a:ln>
            <a:noFill/>
          </a:ln>
        </p:spPr>
        <p:txBody>
          <a:bodyPr anchorCtr="0" anchor="t" bIns="0" lIns="142875" spcFirstLastPara="1" rIns="0" wrap="square" tIns="0">
            <a:spAutoFit/>
          </a:bodyPr>
          <a:lstStyle/>
          <a:p>
            <a:pPr indent="0" lvl="0" marL="0" marR="0" rtl="0" algn="l">
              <a:lnSpc>
                <a:spcPct val="159929"/>
              </a:lnSpc>
              <a:spcBef>
                <a:spcPts val="0"/>
              </a:spcBef>
              <a:spcAft>
                <a:spcPts val="0"/>
              </a:spcAft>
              <a:buNone/>
            </a:pPr>
            <a:r>
              <a:rPr b="0" i="0" lang="en-US" sz="1425" u="none" cap="none" strike="noStrike">
                <a:solidFill>
                  <a:srgbClr val="334155"/>
                </a:solidFill>
                <a:latin typeface="DM Sans"/>
                <a:ea typeface="DM Sans"/>
                <a:cs typeface="DM Sans"/>
                <a:sym typeface="DM Sans"/>
              </a:rPr>
              <a:t>Fahrt das manuelle Postfix runter und ersetzt es durch den Docker-Compose-Stack.</a:t>
            </a:r>
            <a:endParaRPr/>
          </a:p>
        </p:txBody>
      </p:sp>
      <p:sp>
        <p:nvSpPr>
          <p:cNvPr id="254" name="Google Shape;254;p25"/>
          <p:cNvSpPr txBox="1"/>
          <p:nvPr/>
        </p:nvSpPr>
        <p:spPr>
          <a:xfrm>
            <a:off x="762000" y="982860"/>
            <a:ext cx="11401425" cy="476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Merriweather"/>
                <a:ea typeface="Merriweather"/>
                <a:cs typeface="Merriweather"/>
                <a:sym typeface="Merriweather"/>
              </a:rPr>
              <a:t>Zusammenfassung &amp; Arbeitsauftrag</a:t>
            </a:r>
            <a:endParaRPr/>
          </a:p>
        </p:txBody>
      </p:sp>
      <p:sp>
        <p:nvSpPr>
          <p:cNvPr id="255" name="Google Shape;255;p25"/>
          <p:cNvSpPr/>
          <p:nvPr/>
        </p:nvSpPr>
        <p:spPr>
          <a:xfrm>
            <a:off x="571500" y="982860"/>
            <a:ext cx="76200" cy="47625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